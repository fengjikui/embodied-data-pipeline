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f2cfcd566a4f2d" /><Relationship Type="http://schemas.openxmlformats.org/officeDocument/2006/relationships/extended-properties" Target="/docProps/app.xml" Id="R33c541b2fd094a86" /><Relationship Type="http://schemas.openxmlformats.org/officeDocument/2006/relationships/officeDocument" Target="/ppt/presentation.xml" Id="R33b3f84a575d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3eaf664fe34c55"/>
  </p:sldMasterIdLst>
  <p:notesMasterIdLst>
    <p:notesMasterId xmlns:r="http://schemas.openxmlformats.org/officeDocument/2006/relationships" r:id="R65f0392503de4794"/>
  </p:notesMasterIdLst>
  <p:sldIdLst>
    <p:sldId xmlns:r="http://schemas.openxmlformats.org/officeDocument/2006/relationships" id="256" r:id="Rcf544816d3f646b5"/>
    <p:sldId xmlns:r="http://schemas.openxmlformats.org/officeDocument/2006/relationships" id="257" r:id="Rfe8bb311e8db4669"/>
    <p:sldId xmlns:r="http://schemas.openxmlformats.org/officeDocument/2006/relationships" id="258" r:id="Rfdbc1112dbde4608"/>
    <p:sldId xmlns:r="http://schemas.openxmlformats.org/officeDocument/2006/relationships" id="259" r:id="R07cea40ff38c40b7"/>
    <p:sldId xmlns:r="http://schemas.openxmlformats.org/officeDocument/2006/relationships" id="260" r:id="Rc827b0e35d85439f"/>
    <p:sldId xmlns:r="http://schemas.openxmlformats.org/officeDocument/2006/relationships" id="261" r:id="Ra40924cfc5ab49a9"/>
    <p:sldId xmlns:r="http://schemas.openxmlformats.org/officeDocument/2006/relationships" id="262" r:id="Rc3128e4e52f34dc8"/>
    <p:sldId xmlns:r="http://schemas.openxmlformats.org/officeDocument/2006/relationships" id="263" r:id="Rb43fa784bd9246e2"/>
    <p:sldId xmlns:r="http://schemas.openxmlformats.org/officeDocument/2006/relationships" id="264" r:id="R4c06515b4303430d"/>
    <p:sldId xmlns:r="http://schemas.openxmlformats.org/officeDocument/2006/relationships" id="265" r:id="Rebdb36955dfa4af2"/>
    <p:sldId xmlns:r="http://schemas.openxmlformats.org/officeDocument/2006/relationships" id="266" r:id="Rf4522def8e4a43ff"/>
    <p:sldId xmlns:r="http://schemas.openxmlformats.org/officeDocument/2006/relationships" id="267" r:id="Rb2c9e97e8b5b4dd7"/>
    <p:sldId xmlns:r="http://schemas.openxmlformats.org/officeDocument/2006/relationships" id="268" r:id="R4c746ce93c024f7f"/>
    <p:sldId xmlns:r="http://schemas.openxmlformats.org/officeDocument/2006/relationships" id="269" r:id="R5b7c23e3a44a4cb4"/>
    <p:sldId xmlns:r="http://schemas.openxmlformats.org/officeDocument/2006/relationships" id="270" r:id="R4aaff885624a40c6"/>
    <p:sldId xmlns:r="http://schemas.openxmlformats.org/officeDocument/2006/relationships" id="271" r:id="R310267d34ca744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56b882c704727" /><Relationship Type="http://schemas.openxmlformats.org/officeDocument/2006/relationships/slideMaster" Target="/ppt/slideMasters/slideMaster1.xml" Id="R8a3eaf664fe34c55" /><Relationship Type="http://schemas.openxmlformats.org/officeDocument/2006/relationships/notesMaster" Target="/ppt/notesMasters/notesMaster1.xml" Id="R65f0392503de4794" /><Relationship Type="http://schemas.openxmlformats.org/officeDocument/2006/relationships/presProps" Target="/ppt/presProps.xml" Id="R655779450a3f4a2b" /><Relationship Type="http://schemas.openxmlformats.org/officeDocument/2006/relationships/tableStyles" Target="/ppt/tableStyles.xml" Id="R8b1ecf6b0257480c" /><Relationship Type="http://schemas.openxmlformats.org/officeDocument/2006/relationships/slide" Target="/ppt/slides/slide1.xml" Id="Rcf544816d3f646b5" /><Relationship Type="http://schemas.openxmlformats.org/officeDocument/2006/relationships/slide" Target="/ppt/slides/slide2.xml" Id="Rfe8bb311e8db4669" /><Relationship Type="http://schemas.openxmlformats.org/officeDocument/2006/relationships/slide" Target="/ppt/slides/slide3.xml" Id="Rfdbc1112dbde4608" /><Relationship Type="http://schemas.openxmlformats.org/officeDocument/2006/relationships/slide" Target="/ppt/slides/slide4.xml" Id="R07cea40ff38c40b7" /><Relationship Type="http://schemas.openxmlformats.org/officeDocument/2006/relationships/slide" Target="/ppt/slides/slide5.xml" Id="Rc827b0e35d85439f" /><Relationship Type="http://schemas.openxmlformats.org/officeDocument/2006/relationships/slide" Target="/ppt/slides/slide6.xml" Id="Ra40924cfc5ab49a9" /><Relationship Type="http://schemas.openxmlformats.org/officeDocument/2006/relationships/slide" Target="/ppt/slides/slide7.xml" Id="Rc3128e4e52f34dc8" /><Relationship Type="http://schemas.openxmlformats.org/officeDocument/2006/relationships/slide" Target="/ppt/slides/slide8.xml" Id="Rb43fa784bd9246e2" /><Relationship Type="http://schemas.openxmlformats.org/officeDocument/2006/relationships/slide" Target="/ppt/slides/slide9.xml" Id="R4c06515b4303430d" /><Relationship Type="http://schemas.openxmlformats.org/officeDocument/2006/relationships/slide" Target="/ppt/slides/slide10.xml" Id="Rebdb36955dfa4af2" /><Relationship Type="http://schemas.openxmlformats.org/officeDocument/2006/relationships/slide" Target="/ppt/slides/slide11.xml" Id="Rf4522def8e4a43ff" /><Relationship Type="http://schemas.openxmlformats.org/officeDocument/2006/relationships/slide" Target="/ppt/slides/slide12.xml" Id="Rb2c9e97e8b5b4dd7" /><Relationship Type="http://schemas.openxmlformats.org/officeDocument/2006/relationships/slide" Target="/ppt/slides/slide13.xml" Id="R4c746ce93c024f7f" /><Relationship Type="http://schemas.openxmlformats.org/officeDocument/2006/relationships/slide" Target="/ppt/slides/slide14.xml" Id="R5b7c23e3a44a4cb4" /><Relationship Type="http://schemas.openxmlformats.org/officeDocument/2006/relationships/slide" Target="/ppt/slides/slide15.xml" Id="R4aaff885624a40c6" /><Relationship Type="http://schemas.openxmlformats.org/officeDocument/2006/relationships/slide" Target="/ppt/slides/slide16.xml" Id="R310267d34ca7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3eb14bbc942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88ee9d89341a1" /><Relationship Type="http://schemas.openxmlformats.org/officeDocument/2006/relationships/notesMaster" Target="/ppt/notesMasters/notesMaster1.xml" Id="R62ac2aba703847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e8c16680e4725" /><Relationship Type="http://schemas.openxmlformats.org/officeDocument/2006/relationships/notesMaster" Target="/ppt/notesMasters/notesMaster1.xml" Id="R276390a23af94e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a56a00ade4e71" /><Relationship Type="http://schemas.openxmlformats.org/officeDocument/2006/relationships/notesMaster" Target="/ppt/notesMasters/notesMaster1.xml" Id="R9f31ba6820ef4b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b34b552ca84312" /><Relationship Type="http://schemas.openxmlformats.org/officeDocument/2006/relationships/notesMaster" Target="/ppt/notesMasters/notesMaster1.xml" Id="Radb0df833d5c48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a1342c41f46a9" /><Relationship Type="http://schemas.openxmlformats.org/officeDocument/2006/relationships/notesMaster" Target="/ppt/notesMasters/notesMaster1.xml" Id="Rb7ead0f255a3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df3baf9abc4887" /><Relationship Type="http://schemas.openxmlformats.org/officeDocument/2006/relationships/notesMaster" Target="/ppt/notesMasters/notesMaster1.xml" Id="R41742ff81f9f44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0ecff5e624f84" /><Relationship Type="http://schemas.openxmlformats.org/officeDocument/2006/relationships/notesMaster" Target="/ppt/notesMasters/notesMaster1.xml" Id="Rc6ce1048844b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64dd90bad47b8" /><Relationship Type="http://schemas.openxmlformats.org/officeDocument/2006/relationships/notesMaster" Target="/ppt/notesMasters/notesMaster1.xml" Id="R84ca1460f1f541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65412e50194f83" /><Relationship Type="http://schemas.openxmlformats.org/officeDocument/2006/relationships/notesMaster" Target="/ppt/notesMasters/notesMaster1.xml" Id="R529da022fd0547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29f6fafde347d6" /><Relationship Type="http://schemas.openxmlformats.org/officeDocument/2006/relationships/notesMaster" Target="/ppt/notesMasters/notesMaster1.xml" Id="Rce2252d6a60542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23d36913d74ed5" /><Relationship Type="http://schemas.openxmlformats.org/officeDocument/2006/relationships/notesMaster" Target="/ppt/notesMasters/notesMaster1.xml" Id="Ra4e9084e9b354a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3779a239814b2b" /><Relationship Type="http://schemas.openxmlformats.org/officeDocument/2006/relationships/notesMaster" Target="/ppt/notesMasters/notesMaster1.xml" Id="Re2c11525a6c546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9153f0edf1449d" /><Relationship Type="http://schemas.openxmlformats.org/officeDocument/2006/relationships/notesMaster" Target="/ppt/notesMasters/notesMaster1.xml" Id="Rf797beb2566a44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15e91da7a94fff" /><Relationship Type="http://schemas.openxmlformats.org/officeDocument/2006/relationships/notesMaster" Target="/ppt/notesMasters/notesMaster1.xml" Id="R4ad5146e21f54d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e6f7b155124578" /><Relationship Type="http://schemas.openxmlformats.org/officeDocument/2006/relationships/notesMaster" Target="/ppt/notesMasters/notesMaster1.xml" Id="Rfb360b78f5cb46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b5493072ff482a" /><Relationship Type="http://schemas.openxmlformats.org/officeDocument/2006/relationships/notesMaster" Target="/ppt/notesMasters/notesMaster1.xml" Id="Rf230f8d2d39f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 秒。今天汇报分三部分：对 VLA 数据的认识、我们已经跑通的数据工程验证，以及下一阶段需要的场景与资源。实验室还在探索工业具身智能，这次交付先建立可复用的数据基础。来源：docs/06-supervisor-brief.md。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秒。核心结论是，在机器人和任务尚未确定时，数据接入和验证仍能推进。我们已经完成真实数据到训练窗口和小模型反向传播的工程链路。还没有完成预训练 VLA 微调或机器人任务验证。后续最需要工厂入口与目标控制接口。来源：reports/acceptance.json；reports/training_probe.json。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秒。我有 LLM 基础，可以把 VLA 理解为利用视觉、语言和状态来预测动作的模型。动作可用离散 token、连续回归或生成式动作头。机器人状态和动作需要单位、坐标、时间与控制器定义。本次小模型用来检查数据接口，没有预训练视觉语言骨干。来源：docs/01-vla-data-research.md；https://github.com/openvla/openvla；https://github.com/Physical-Intelligence/open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秒。不要把这四项视为互斥的桶。一个公开数据集可以是真实环境中遥操作采集、后来以商业授权形式提供。分类的目的，是判断获取条件和训练价值。来源：docs/01-vla-data-research.md。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秒。已经整理 24 项数据条目及 57 项来源，其中有暂缓和排除项。对于后续下载，应先选任务、本体、动作和访问条件，再扩量。本页是代表入口，不是质量排名。完整的获取清单在 docs/11-download-priorities.md。来源：https://droid-dataset.github.io/；https://huggingface.co/datasets/lerobot/abc_130k_v3_smoke；https://github.com/OpenDriveLab/AgiBot-World；https://huggingface.co/datasets/unitreerobotics/G1_WBT_Brainco_Collect_Plates_Into_Dishwasher；https://github.com/RoboTwin-Platform/RoboTw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秒。本次只取每个来源 6 条轨迹、一路相机。真实双臂任务是卷领带，G1 是拿苹果，仿真是双臂穿引，它们用于验证文件与训练接口，不能代替集团工位。状态和动作维度不同，原型没有进行不可靠的跨本体转换。窗口数受采样间隔与数量上限影响，不能据此比较来源价值。来源：configs/demo_sources.lock.json；reports/accept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秒。让主管看见数据中的真实图像，动作则在对应数值文件中。这里都是固定版本原始视频帧提取，没有生成式图像。G1 展示上身桌面操作，不是负载行走。图像出处与许可：reports/image_attribution.json；NVIDIA G1 和 X-Embodiment-Sim 为 CC-BY-4.0；ABC v3 smoke 为 Apache-2.0。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秒。原始层保存文件和哈希，规范层保存完整数字轨迹及来源，训练视图负责图像取样、语言、动作块、mask 和统计。输出是特定训练程序使用的接口视图。新格式第一次需要适配，同契约新批次可以复用。来源：src/vla_pipeline/pipeline.py；docs/03-pipeline-design.md。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秒。这是本次真实发现：ABC 一行存着整段语言标注，若直接拼接，会把未来阶段提前给模型。这是针对带生效时间的阶段标签；任务开始前本来已知的完整指令并不自动构成泄漏。现在只取当前时刻已经生效的阶段标注。图像也只选过去帧。这个验证依赖源时间，设备时钟与实际延迟仍需标定。来源：data/raw/abc_real 的固定版本 episode 0；src/vla_pipeline/readers.py；tests/test_contracts.py。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秒。原始样本 18 条均通过当前工程检查；我们另造了异常变体来测试规则：错误时间、NaN、缺少视频被隔离，重复副本被跳过。注入错误比例不代表原始数据质量。来源：reports/acceptance.json；scripts/verify_delivery.py。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秒。每组单独训练一个随机初始化的小网络，实际输入图像、语言和状态，监督是 8 步动作。CPU 跑 120 步，有限梯度、检查点和优化器恢复通过。训练误差下降只说明拟合；仿真组验证误差仍高，提醒我们不能把训练链路正常等同于泛化或机器人成功。不同来源的归一化尺度不同，不能直接排优劣。来源：reports/training_probe.json；src/vla_pipeline/trainin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秒。公司实际落地优先 Ubuntu 服务器，并兼容 Windows。代码和数据契约跨平台，运行库和 wheel 需要按系统准备。不同操作系统的虚拟环境不能直接复制。当前提供校验包和离线模式，两平台 CI 已实际通过 21 项测试；CI 是合成契约测试，真实服务器的编解码、GPU 和内网环境仍要复验。来源：docs/10-linux-windows-offline-deployment.md；https://docs.astral.sh/uv/concepts/projects/layout/。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机械臂与人形保持同等研究深度，数据管理共用，控制适配分别做。机械臂先分拣和上下料，再讨论接触；人形先静止双臂，再增加移动、负载和稳定性验证。需要现场真实条件与控制接口参与，而不是只凭已有数据定采购。来源：docs/05-lab-roadma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秒。建议四周按检查点推进：任务与接口清楚、上游模型能够微调、固定任务有完整试验、数据增加有对照。资源和设备未确定，所以这是工作安排，不是工业达标日期。来源：docs/06-supervisor-brief.md。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秒。希望主管确认下一阶段先完成一个候选任务的模型和评测闭环，协调一到两个现场联系人，明确现有机器人、GPU 和人员资源，并设置两周复盘。我们负责形成技术证据，业务现场定义价值和合格标准，主管决定投入优先级。来源：docs/06-supervisor-brief.md。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秒。交付包已经覆盖调研、可运行管线、实测记录和迁移说明。下一阶段用真实任务连接模型与机器人能力。可现场打开离线报告，或者运行演示手册中的缓存重跑命令。来源：README.md；docs/08-demo-runbook.md。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ecfe5c3ca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9e74883eb4a0b" /><Relationship Type="http://schemas.openxmlformats.org/officeDocument/2006/relationships/slideLayout" Target="/ppt/slideLayouts/slideLayout1.xml" Id="Re7ba56580964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ba56580964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d1527566e42ec" /><Relationship Type="http://schemas.openxmlformats.org/officeDocument/2006/relationships/notesSlide" Target="/ppt/notesSlides/notesSlide1.xml" Id="R8df92201ca9e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677b070204ef1" /><Relationship Type="http://schemas.openxmlformats.org/officeDocument/2006/relationships/notesSlide" Target="/ppt/notesSlides/notesSlide2.xml" Id="R5baeeaac8bfe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af8c3e3224727" /><Relationship Type="http://schemas.openxmlformats.org/officeDocument/2006/relationships/notesSlide" Target="/ppt/notesSlides/notesSlide3.xml" Id="Ree215ad2036648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09a83c314b3c" /><Relationship Type="http://schemas.openxmlformats.org/officeDocument/2006/relationships/notesSlide" Target="/ppt/notesSlides/notesSlide4.xml" Id="R0148e1b5fadc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e3176c2974086" /><Relationship Type="http://schemas.openxmlformats.org/officeDocument/2006/relationships/notesSlide" Target="/ppt/notesSlides/notesSlide5.xml" Id="R7cc752a1ac6444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cdee41d684d3b" /><Relationship Type="http://schemas.openxmlformats.org/officeDocument/2006/relationships/notesSlide" Target="/ppt/notesSlides/notesSlide6.xml" Id="R05ce66c326774f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2a34bd30342db" /><Relationship Type="http://schemas.openxmlformats.org/officeDocument/2006/relationships/image" Target="/ppt/media/image.png" Id="Rbf39961696fb43ea" /><Relationship Type="http://schemas.openxmlformats.org/officeDocument/2006/relationships/image" Target="/ppt/media/image2.png" Id="Rbe4731f68070401b" /><Relationship Type="http://schemas.openxmlformats.org/officeDocument/2006/relationships/image" Target="/ppt/media/image3.png" Id="R67b0d316c5664332" /><Relationship Type="http://schemas.openxmlformats.org/officeDocument/2006/relationships/notesSlide" Target="/ppt/notesSlides/notesSlide7.xml" Id="Ra95ff21cef8c42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d68abcc1454c" /><Relationship Type="http://schemas.openxmlformats.org/officeDocument/2006/relationships/notesSlide" Target="/ppt/notesSlides/notesSlide8.xml" Id="R3c685881c358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41ac164d14ae4" /><Relationship Type="http://schemas.openxmlformats.org/officeDocument/2006/relationships/notesSlide" Target="/ppt/notesSlides/notesSlide9.xml" Id="R34208a471eba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44514a6434c9a" /><Relationship Type="http://schemas.openxmlformats.org/officeDocument/2006/relationships/notesSlide" Target="/ppt/notesSlides/notesSlide10.xml" Id="R2fbaf971a51144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0f54b8f754328" /><Relationship Type="http://schemas.openxmlformats.org/officeDocument/2006/relationships/notesSlide" Target="/ppt/notesSlides/notesSlide11.xml" Id="R248bb98ff93b4e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fc6f9303d4840" /><Relationship Type="http://schemas.openxmlformats.org/officeDocument/2006/relationships/notesSlide" Target="/ppt/notesSlides/notesSlide12.xml" Id="R4f843791f5504c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74c29c5444248" /><Relationship Type="http://schemas.openxmlformats.org/officeDocument/2006/relationships/notesSlide" Target="/ppt/notesSlides/notesSlide13.xml" Id="Rad027e1fef3442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17d02252491c" /><Relationship Type="http://schemas.openxmlformats.org/officeDocument/2006/relationships/notesSlide" Target="/ppt/notesSlides/notesSlide14.xml" Id="Rc5603abf85a448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2c0c9f7624a81" /><Relationship Type="http://schemas.openxmlformats.org/officeDocument/2006/relationships/notesSlide" Target="/ppt/notesSlides/notesSlide15.xml" Id="R0a09052c61a44d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d547324d474b" /><Relationship Type="http://schemas.openxmlformats.org/officeDocument/2006/relationships/notesSlide" Target="/ppt/notesSlides/notesSlide16.xml" Id="R950122e726ce4b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4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584E-9CB4-42A9-9154-7229313D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169D6-3387-4490-A769-B69768D7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工业具身智能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FA9EB-5890-4BE0-8B56-DF40F5F7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VLA 数据预研</a:t>
            </a:r>
          </a:p>
          <a:p xmlns:a="http://schemas.openxmlformats.org/drawingml/2006/main">
            <a:pPr>
              <a:def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与管线工程验证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005C7-0087-4169-8363-67834AF6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rPr>
              <a:t>集团 AI 实验室 · 阶段交付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F3B4F-2E7A-4531-B788-F9D0AF5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rPr>
              <a:t>2026.09.14</a:t>
            </a:r>
          </a:p>
        </p:txBody>
      </p:sp>
    </p:spTree>
    <p:extLst>
      <p:ext uri="{BB962C8B-B14F-4D97-AF65-F5344CB8AC3E}">
        <p14:creationId xmlns:p14="http://schemas.microsoft.com/office/powerpoint/2010/main" val="689540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FF46D-5341-4C8A-AB89-BD3A3B49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本次交付与阶段结论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016A7-8B68-4CE0-A26D-92600D9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BE526-E69B-48AE-9302-AECEC88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数据已进入可复现的训练工程链路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D1F18-555B-4F45-A28F-5F9C55A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B159F-F1FE-4FDD-92B1-B69D64A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多来源接入、异常隔离、训练窗口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以及小模型反向传播和检查点恢复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3A9D4-DB57-480C-ADF8-A102CDE2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下一阶段验证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4A5C6-61A7-44B1-BC4F-8DF30C5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目标工位、目标机器人、选定 VLA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以及闭环执行与数据收益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BA2F2-CC25-48CE-AAB1-BB45E2EA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需要主管支持：现场入口、资源范围、阶段复盘</a:t>
            </a:r>
          </a:p>
        </p:txBody>
      </p:sp>
    </p:spTree>
    <p:extLst>
      <p:ext uri="{BB962C8B-B14F-4D97-AF65-F5344CB8AC3E}">
        <p14:creationId xmlns:p14="http://schemas.microsoft.com/office/powerpoint/2010/main" val="823238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405F8-2A5B-4D68-AAE5-71C64955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VLA 的输入、输出与数据监督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B5408-8188-4472-BAFD-8077538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333750"/>
                <a:gridCol w="3695700"/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模型所见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模型所学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新增约束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图像 + 语言 + 当前状态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当前条件下的动作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坐标、单位、控制接口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轨迹切出的观测与动作窗口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连续动作或动作 token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时间同步与 episode 边界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多条件示范与纠正片段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技能、适应与恢复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固定闭环评测验证收益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349E1-4953-4503-AAB3-EB1ECDE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LLM 训练知识可以迁移，动作标签必须具有可解释的物理含义</a:t>
            </a:r>
          </a:p>
        </p:txBody>
      </p:sp>
    </p:spTree>
    <p:extLst>
      <p:ext uri="{BB962C8B-B14F-4D97-AF65-F5344CB8AC3E}">
        <p14:creationId xmlns:p14="http://schemas.microsoft.com/office/powerpoint/2010/main" val="59337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11E2C-8BA2-4857-A317-9E775EAF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数据分类的四个独立维度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4936D-8155-4F9F-8B81-3483FFB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7434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典型取值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判断用途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获取权利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开放许可、限制访问、商业许可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能否获取和按目标用途使用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产生环境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真实环境、仿真环境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与目标工位差异在哪里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控制方式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遥操作、脚本、策略、人工接管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动作监督从哪里来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数据内容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视频、语言、状态、动作、接触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能支持哪类模型与训练目标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36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E8A99-6671-4939-9A8D-D82F171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数据资产清单与下载顺序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71046-CA7F-4EED-82BA-0839E6E0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8DF53-2D2F-44AD-A4D9-B1CAB20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24 项条目 / 57 项来源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333625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35052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研究方向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优先核查的代表入口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获取策略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机械臂与双臂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DROID、Bridge、ABC、RoboMIND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先取任务与本体明确的样包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人形上身与全身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G1、宇树 Dex1 / WBT、AgiBot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区分手型、上身与移动操作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仿真与评测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X-Embodiment Sim、RoboTwin、LIBERO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锁定任务、控制器与评测版本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E39A1-4EA5-4513-B80E-88087D5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本机仅保留约 212 MB 原始验证样本；后续扩量在公司环境执行</a:t>
            </a:r>
          </a:p>
        </p:txBody>
      </p:sp>
    </p:spTree>
    <p:extLst>
      <p:ext uri="{BB962C8B-B14F-4D97-AF65-F5344CB8AC3E}">
        <p14:creationId xmlns:p14="http://schemas.microsoft.com/office/powerpoint/2010/main" val="133791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C9D87-7768-49C3-98EA-4AC5DC4D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三类数据的真实接入结果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3A153-637B-483F-8013-DC11E87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476500"/>
                <a:gridCol w="2857500"/>
                <a:gridCol w="2362200"/>
              </a:tblGrid>
              <a:tr h="77390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轨迹 / 时刻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 / 动作维度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训练窗口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真实人形 G1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/ 684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43 / 43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真实双臂 YAM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/ 21,193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 / 14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384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仿真双臂 Panda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/ 1,232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/ 14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131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3173C-08F7-4047-AB94-090AC62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18 条来源轨迹，23,109 个时刻，590 个训练窗口</a:t>
            </a:r>
          </a:p>
        </p:txBody>
      </p:sp>
    </p:spTree>
    <p:extLst>
      <p:ext uri="{BB962C8B-B14F-4D97-AF65-F5344CB8AC3E}">
        <p14:creationId xmlns:p14="http://schemas.microsoft.com/office/powerpoint/2010/main" val="41899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17A2E-E563-495B-BFA9-2391EA69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图像与动作记录共同组成示范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9524-48E8-4D15-9E50-C17E478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9961696fb43ea"/>
          <a:stretch xmlns:a="http://schemas.openxmlformats.org/drawingml/2006/main"/>
        </p:blipFill>
        <p:spPr>
          <a:xfrm xmlns:a="http://schemas.openxmlformats.org/drawingml/2006/main">
            <a:off x="962025" y="1762125"/>
            <a:ext cx="2667000" cy="2667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731f68070401b"/>
          <a:stretch xmlns:a="http://schemas.openxmlformats.org/drawingml/2006/main"/>
        </p:blipFill>
        <p:spPr>
          <a:xfrm xmlns:a="http://schemas.openxmlformats.org/drawingml/2006/main">
            <a:off x="4410075" y="1831181"/>
            <a:ext cx="3371850" cy="2528888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0d316c5664332"/>
          <a:stretch xmlns:a="http://schemas.openxmlformats.org/drawingml/2006/main"/>
        </p:blipFill>
        <p:spPr>
          <a:xfrm xmlns:a="http://schemas.openxmlformats.org/drawingml/2006/main">
            <a:off x="8562975" y="176212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B292B-3695-4903-B3E0-6C26D8C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真实双臂：卷领带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68C96-2670-43A5-AE4A-82AF85E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48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真实人形：拿苹果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BA26E-1DA4-4857-9676-54CDDFE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仿真双臂：穿引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2BD04-1B73-43D9-B94D-E0B8D7D2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原始视频帧提取。工程代表样本，尚未对应集团具体工位</a:t>
            </a:r>
          </a:p>
        </p:txBody>
      </p:sp>
    </p:spTree>
    <p:extLst>
      <p:ext uri="{BB962C8B-B14F-4D97-AF65-F5344CB8AC3E}">
        <p14:creationId xmlns:p14="http://schemas.microsoft.com/office/powerpoint/2010/main" val="585157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8B7AF-549F-4CA8-88D8-3B1A4527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数据管线的三个层次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5C46-C09E-4977-8188-AAB8E263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A760-7AD3-456D-9668-AD5127BC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01  原始层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B0C5D-FD59-4787-A101-183E18B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固定版本、逐文件哈希、不可覆盖原件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新批次登记，损坏文件明确报错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2AB7B-C2E8-4052-9028-7BADC9D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02  规范层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63FC-E4BA-4A23-9C5F-2385130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完整数字轨迹、语言与媒体引用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检查时间、维度、缺失、重复和来源关系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3F116-03B2-4E91-B12C-1F3550E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03  训练视图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F4784-F6CE-48A2-9ED8-F7A54673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按时间戳选取当前及过去观测、动作块和 mask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按来源保留维度，发布可复现版本</a:t>
            </a:r>
          </a:p>
        </p:txBody>
      </p:sp>
    </p:spTree>
    <p:extLst>
      <p:ext uri="{BB962C8B-B14F-4D97-AF65-F5344CB8AC3E}">
        <p14:creationId xmlns:p14="http://schemas.microsoft.com/office/powerpoint/2010/main" val="939656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8F46-0E5C-4A10-AFF6-4C67350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实际发现：一行数据包含未来语言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3B716-7AF0-40A7-A9D2-C39F1FB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  <a:gridCol w="3124200"/>
              </a:tblGrid>
              <a:tr h="7381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生效时间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原始子任务标注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 1 秒时是否可见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 秒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从料盒拿起领带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3.7 秒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将领带放到工作板中央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17.33 秒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在工作板上卷起领带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B1692-4B0F-4312-8B9E-4C8C64D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按当前时间选择有效标注，避免训练条件提前泄露后续步骤</a:t>
            </a:r>
          </a:p>
        </p:txBody>
      </p:sp>
    </p:spTree>
    <p:extLst>
      <p:ext uri="{BB962C8B-B14F-4D97-AF65-F5344CB8AC3E}">
        <p14:creationId xmlns:p14="http://schemas.microsoft.com/office/powerpoint/2010/main" val="1013378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501E3-E3A7-451C-808F-4A7683D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异常隔离与数据发布验收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2F394-AB8F-4C23-BF39-F93009D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512445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验证项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实际结果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错误时间、NaN、缺失视频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个注入变体隔离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完全重复的数值轨迹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个副本跳过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离线重跑、文件完整性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同一发布复用，输出哈希通过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统计与动作窗口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只用训练集；尾部 mask；不跨轨迹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DCDA9-69D7-493B-93DF-D53BAB1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异常是人为构造的测试样本，不用于估算原数据集缺陷率</a:t>
            </a:r>
          </a:p>
        </p:txBody>
      </p:sp>
    </p:spTree>
    <p:extLst>
      <p:ext uri="{BB962C8B-B14F-4D97-AF65-F5344CB8AC3E}">
        <p14:creationId xmlns:p14="http://schemas.microsoft.com/office/powerpoint/2010/main" val="2101149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E9C41-D315-4294-84E5-64D00C33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小模型训练接口的实测结果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3B5FB-9CD4-432A-A58A-D87A5D7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57500"/>
                <a:gridCol w="2857500"/>
                <a:gridCol w="2552700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初始训练 MSE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结束训练 MSE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 MSE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真实人形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0.9666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0.0546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0.6069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真实双臂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1.0856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0.0745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0.1419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仿真双臂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1.0354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0.4561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1.0562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BBBC-CCF8-421F-BCE9-8273B33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CPU / 每组 120 步 / 有限梯度 / 检查点恢复输出一致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21A14-B139-417B-B14F-9D9E2D3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随机初始化小网络，用于工程验证。不能据此判断机器人能力或跨来源优劣</a:t>
            </a:r>
          </a:p>
        </p:txBody>
      </p:sp>
    </p:spTree>
    <p:extLst>
      <p:ext uri="{BB962C8B-B14F-4D97-AF65-F5344CB8AC3E}">
        <p14:creationId xmlns:p14="http://schemas.microsoft.com/office/powerpoint/2010/main" val="362409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A5F4B-EFC2-4D3B-BB8E-856A15B9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公司环境迁移与平台适配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797C5-7B7A-4E2D-BB40-851D3DE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6F2CB-9125-4C68-BDB3-7A6F0BEE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Linux / Ubuntu 优先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1D148-D829-4323-8B7B-79D726F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核心管线使用 Python 与相对路径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Windows 使用相同命令入口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4283A-CB42-4473-8D82-55D2BCC6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内网准备分开管理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1A046-75AC-434C-BD05-78A29BA3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项目与数据包可校验迁移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Python 运行库按 OS / 架构另备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28650" y="4086225"/>
          <a:ext xmlns:a="http://schemas.openxmlformats.org/drawingml/2006/main" cx="10934700" cy="1647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549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已提供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仍需公司环境验证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版本锁、离线模式、本地数据登记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目标系统 wheel 与视频编码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Ubuntu / Windows 契约测试通过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GPU、机器人 SDK、内网镜像与权限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3205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9B7BD-3D74-44D0-BCE0-95C02B6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机械臂与人形的并行验证路线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B75B3-D3E9-4456-8BB7-4657705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495800"/>
                <a:gridCol w="4486275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机械臂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人形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候选起点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零件分拣、工位上下料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静止双臂整理、搬放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后续扩展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夹具交互、精细接触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移动到位、负载搬运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核心新增条件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工具、公差、力／触觉、联锁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全身控制、根部位姿、接触与负载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共同评价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合格率、干预、节拍、稳定性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合格率、干预、节拍、稳定性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F59D5-87E5-4E7C-8112-663A0016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共用数据工程，分别维护本体与控制适配</a:t>
            </a:r>
          </a:p>
        </p:txBody>
      </p:sp>
    </p:spTree>
    <p:extLst>
      <p:ext uri="{BB962C8B-B14F-4D97-AF65-F5344CB8AC3E}">
        <p14:creationId xmlns:p14="http://schemas.microsoft.com/office/powerpoint/2010/main" val="1361433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45B90-4314-45BC-A1F3-EBCA3F16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建议的四周检查点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DA5CF-0A3E-477B-9D97-F3F44AC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810125"/>
                <a:gridCol w="46482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周次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技术工作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应看到的证据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1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现场候选与动作接口，选择上游模型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任务卡、资源范围、接入清单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真实模型加载与小规模微调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 batch、梯度、检查点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3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固定任务基线，试采目标数据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全部试验记录、失败分桶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4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固定预算比较不同数据配方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成功数 / 总试验数、干预与节拍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FC8CD-7091-4312-80E4-F4B4DE6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安排以资源可用为前提，阶段结果决定继续扩展的方向</a:t>
            </a:r>
          </a:p>
        </p:txBody>
      </p:sp>
    </p:spTree>
    <p:extLst>
      <p:ext uri="{BB962C8B-B14F-4D97-AF65-F5344CB8AC3E}">
        <p14:creationId xmlns:p14="http://schemas.microsoft.com/office/powerpoint/2010/main" val="20062989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0C47C-B5E4-4DE6-BC4B-CF184CD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需要主管确认与协调的事项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410E-131D-49C4-9027-6275E81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3FC91-D84C-4FFF-A6A9-62CA07A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下一阶段优先成果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B9C65-C953-402E-9CA6-1D85C7A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建议聚焦一个候选任务的模型与评测闭环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6A40E-3718-4B0A-8246-8C48C5C7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集团内部现场入口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948EC-A856-4F92-80D7-C32898C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协调 1～2 位联系人，共同定义价值与合格标准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4AF18-35A8-412F-B17F-49704079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资源范围与复盘机制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22F7A-3B8D-4CE1-A219-1319F19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确认现有设备、GPU 与人员支持，两周复盘一次</a:t>
            </a:r>
          </a:p>
        </p:txBody>
      </p:sp>
    </p:spTree>
    <p:extLst>
      <p:ext uri="{BB962C8B-B14F-4D97-AF65-F5344CB8AC3E}">
        <p14:creationId xmlns:p14="http://schemas.microsoft.com/office/powerpoint/2010/main" val="8921577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134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4A62C-62FF-40E1-8647-C85FF293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交付包与后续工作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50395-5254-440A-B737-59588F8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AA976-4449-4199-914E-ED82391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调研可以查证</a:t>
            </a:r>
          </a:p>
          <a:p xmlns:a="http://schemas.openxmlformats.org/drawingml/2006/main">
            <a:pPr>
              <a:def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管线可以运行</a:t>
            </a:r>
          </a:p>
          <a:p xmlns:a="http://schemas.openxmlformats.org/drawingml/2006/main">
            <a:pPr>
              <a:def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结果可以复现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96A02-9868-486D-AB8D-90C8DCF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rPr>
              <a:t>下一阶段：用真实工位检验模型与数据的价值</a:t>
            </a:r>
          </a:p>
        </p:txBody>
      </p:sp>
    </p:spTree>
    <p:extLst>
      <p:ext uri="{BB962C8B-B14F-4D97-AF65-F5344CB8AC3E}">
        <p14:creationId xmlns:p14="http://schemas.microsoft.com/office/powerpoint/2010/main" val="1101886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2026-09-12T06:37:14.7940000Z</dcterms:created>
  <dcterms:modified xsi:type="dcterms:W3CDTF">2026-09-12T06:37:14.7940000Z</dcterms:modified>
</coreProperties>
</file>